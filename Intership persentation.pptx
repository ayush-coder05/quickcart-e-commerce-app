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9728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"/>
            <a:ext cx="1417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93462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749808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93462"/>
                </a:solidFill>
                <a:latin typeface="Arial"/>
              </a:rPr>
              <a:t>PATNA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228600"/>
            <a:ext cx="329184" cy="475488"/>
          </a:xfrm>
          <a:prstGeom prst="rect">
            <a:avLst/>
          </a:prstGeom>
          <a:solidFill>
            <a:srgbClr val="FFCC00"/>
          </a:solidFill>
          <a:ln>
            <a:solidFill>
              <a:srgbClr val="093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32918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93462"/>
                </a:solidFill>
                <a:latin typeface="Arial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60120"/>
            <a:ext cx="475488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3248" y="960120"/>
            <a:ext cx="489204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934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2344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Internship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920240"/>
            <a:ext cx="5303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93462"/>
                </a:solidFill>
                <a:latin typeface="Arial"/>
              </a:rPr>
              <a:t>React Native Developer Intern
(AI-Assisted Development)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432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0">
                <a:solidFill>
                  <a:srgbClr val="000000"/>
                </a:solidFill>
                <a:latin typeface="Arial"/>
              </a:rPr>
              <a:t>ToonsCode Software Training 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Ayush (A45304825002) - BCA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6576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Under the Supervision 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04164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Dr. Sushant Kumar Dubey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34924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Amity Institute Of Information Technology, Patna
10 August,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"/>
            <a:ext cx="1417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93462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749808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93462"/>
                </a:solidFill>
                <a:latin typeface="Arial"/>
              </a:rPr>
              <a:t>PATNA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228600"/>
            <a:ext cx="329184" cy="475488"/>
          </a:xfrm>
          <a:prstGeom prst="rect">
            <a:avLst/>
          </a:prstGeom>
          <a:solidFill>
            <a:srgbClr val="FFCC00"/>
          </a:solidFill>
          <a:ln>
            <a:solidFill>
              <a:srgbClr val="093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32918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93462"/>
                </a:solidFill>
                <a:latin typeface="Arial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60120"/>
            <a:ext cx="475488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3248" y="960120"/>
            <a:ext cx="489204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934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2344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Outline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050" b="0">
                <a:solidFill>
                  <a:srgbClr val="000000"/>
                </a:solidFill>
              </a:rPr>
              <a:t>The NTCC Progress Report proposal must be prepared in consultation with the assigned project guide and approved prior to commencement. The NTCC Progress Report proposal should clearly define the </a:t>
            </a:r>
            <a:r>
              <a:rPr sz="1050" b="1">
                <a:solidFill>
                  <a:srgbClr val="000000"/>
                </a:solidFill>
              </a:rPr>
              <a:t>problem statement</a:t>
            </a:r>
            <a:r>
              <a:rPr sz="1050" b="0">
                <a:solidFill>
                  <a:srgbClr val="000000"/>
                </a:solidFill>
              </a:rPr>
              <a:t>, </a:t>
            </a:r>
            <a:r>
              <a:rPr sz="1050" b="1">
                <a:solidFill>
                  <a:srgbClr val="000000"/>
                </a:solidFill>
              </a:rPr>
              <a:t>scope</a:t>
            </a:r>
            <a:r>
              <a:rPr sz="1050" b="0">
                <a:solidFill>
                  <a:srgbClr val="000000"/>
                </a:solidFill>
              </a:rPr>
              <a:t>, and </a:t>
            </a:r>
            <a:r>
              <a:rPr sz="1050" b="1">
                <a:solidFill>
                  <a:srgbClr val="000000"/>
                </a:solidFill>
              </a:rPr>
              <a:t>Proposed Methodology/ Environment</a:t>
            </a:r>
            <a:r>
              <a:rPr sz="1050" b="0">
                <a:solidFill>
                  <a:srgbClr val="000000"/>
                </a:solidFill>
              </a:rPr>
              <a:t> of the proposed project to be undertaken. The NTCC Progress Report must present complete details in the following structured format: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9692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</a:rPr>
              <a:t>1.  </a:t>
            </a:r>
            <a:r>
              <a:rPr sz="1050">
                <a:solidFill>
                  <a:srgbClr val="000000"/>
                </a:solidFill>
              </a:rPr>
              <a:t>Title of the project, group information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</a:rPr>
              <a:t>2.  </a:t>
            </a:r>
            <a:r>
              <a:rPr sz="1050">
                <a:solidFill>
                  <a:srgbClr val="000000"/>
                </a:solidFill>
              </a:rPr>
              <a:t>Name of the supervisor (external supervisor (company) and internal supervisor (supervisor from the Department))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</a:rPr>
              <a:t>3.  </a:t>
            </a:r>
            <a:r>
              <a:rPr sz="1050">
                <a:solidFill>
                  <a:srgbClr val="000000"/>
                </a:solidFill>
              </a:rPr>
              <a:t>Organization/ company details with profile of supervisor (if project is carried out outside the department) and Include that internship are paid or unpaid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</a:rPr>
              <a:t>4.  </a:t>
            </a:r>
            <a:r>
              <a:rPr sz="1050">
                <a:solidFill>
                  <a:srgbClr val="000000"/>
                </a:solidFill>
              </a:rPr>
              <a:t>Certificate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C00000"/>
                </a:solidFill>
              </a:rPr>
              <a:t>5.  </a:t>
            </a:r>
            <a:r>
              <a:rPr sz="1050">
                <a:solidFill>
                  <a:srgbClr val="C00000"/>
                </a:solidFill>
              </a:rPr>
              <a:t>Weekly Report/ Work Plan / Gantt Chart – Timeline of project phases.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</a:rPr>
              <a:t>6.  </a:t>
            </a:r>
            <a:r>
              <a:rPr sz="1050">
                <a:solidFill>
                  <a:srgbClr val="000000"/>
                </a:solidFill>
              </a:rPr>
              <a:t>Introduction and objectives of the project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C00000"/>
                </a:solidFill>
              </a:rPr>
              <a:t>7.  </a:t>
            </a:r>
            <a:r>
              <a:rPr sz="1050">
                <a:solidFill>
                  <a:srgbClr val="C00000"/>
                </a:solidFill>
              </a:rPr>
              <a:t>Scope of the Project – Define boundaries and limitations.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C00000"/>
                </a:solidFill>
              </a:rPr>
              <a:t>8.  </a:t>
            </a:r>
            <a:r>
              <a:rPr sz="1050">
                <a:solidFill>
                  <a:srgbClr val="C00000"/>
                </a:solidFill>
              </a:rPr>
              <a:t>System Analysis (Level 0 DFD (Context Diagram), Level 1 DFD Process Decomposition Diagram, ER diagrams, class diagrams, time line etc. As per the project requirements).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</a:rPr>
              <a:t>9.  </a:t>
            </a:r>
            <a:r>
              <a:rPr sz="1050">
                <a:solidFill>
                  <a:srgbClr val="000000"/>
                </a:solidFill>
              </a:rPr>
              <a:t>A complete structure which includes:</a:t>
            </a:r>
          </a:p>
          <a:p>
            <a:pPr>
              <a:spcBef>
                <a:spcPts val="100"/>
              </a:spcBef>
              <a:spcAft>
                <a:spcPts val="100"/>
              </a:spcAft>
              <a:buChar char="•"/>
            </a:pPr>
            <a:r>
              <a:rPr sz="1050">
                <a:solidFill>
                  <a:srgbClr val="000000"/>
                </a:solidFill>
              </a:rPr>
              <a:t>        •  Name of modules and their description</a:t>
            </a:r>
          </a:p>
          <a:p>
            <a:pPr>
              <a:spcBef>
                <a:spcPts val="100"/>
              </a:spcBef>
              <a:spcAft>
                <a:spcPts val="100"/>
              </a:spcAft>
              <a:buChar char="•"/>
            </a:pPr>
            <a:r>
              <a:rPr sz="1050">
                <a:solidFill>
                  <a:srgbClr val="000000"/>
                </a:solidFill>
              </a:rPr>
              <a:t>        •  Database / data structures description</a:t>
            </a:r>
          </a:p>
          <a:p>
            <a:pPr>
              <a:spcBef>
                <a:spcPts val="100"/>
              </a:spcBef>
              <a:spcAft>
                <a:spcPts val="100"/>
              </a:spcAft>
              <a:buChar char="•"/>
            </a:pPr>
            <a:r>
              <a:rPr sz="1050">
                <a:solidFill>
                  <a:srgbClr val="000000"/>
                </a:solidFill>
              </a:rPr>
              <a:t>        •  Process logic of each module (flow chart)</a:t>
            </a:r>
          </a:p>
          <a:p>
            <a:pPr>
              <a:spcBef>
                <a:spcPts val="100"/>
              </a:spcBef>
              <a:spcAft>
                <a:spcPts val="100"/>
              </a:spcAft>
              <a:buChar char="•"/>
            </a:pPr>
            <a:r>
              <a:rPr sz="1050">
                <a:solidFill>
                  <a:srgbClr val="000000"/>
                </a:solidFill>
              </a:rPr>
              <a:t>        •  Reports generation. (repot format)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</a:rPr>
              <a:t>10.  </a:t>
            </a:r>
            <a:r>
              <a:rPr sz="1050">
                <a:solidFill>
                  <a:srgbClr val="000000"/>
                </a:solidFill>
              </a:rPr>
              <a:t>Tools / platform, hardware, and software requirement specifications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C00000"/>
                </a:solidFill>
              </a:rPr>
              <a:t>11.  </a:t>
            </a:r>
            <a:r>
              <a:rPr sz="1050">
                <a:solidFill>
                  <a:srgbClr val="C00000"/>
                </a:solidFill>
              </a:rPr>
              <a:t>Expected Outcomes – Deliverables and benefits of the project.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</a:rPr>
              <a:t>12.  </a:t>
            </a:r>
            <a:r>
              <a:rPr sz="1050">
                <a:solidFill>
                  <a:srgbClr val="000000"/>
                </a:solidFill>
              </a:rPr>
              <a:t>References / Bibliography – Resources, books, and websites referred.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0000"/>
                </a:solidFill>
              </a:rPr>
              <a:t>NOTE: NTCC Progress Report </a:t>
            </a:r>
            <a:r>
              <a:rPr sz="1050" b="0">
                <a:solidFill>
                  <a:srgbClr val="C00000"/>
                </a:solidFill>
              </a:rPr>
              <a:t>should not more than 10 pages.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"/>
            <a:ext cx="1417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93462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749808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93462"/>
                </a:solidFill>
                <a:latin typeface="Arial"/>
              </a:rPr>
              <a:t>PATNA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228600"/>
            <a:ext cx="329184" cy="475488"/>
          </a:xfrm>
          <a:prstGeom prst="rect">
            <a:avLst/>
          </a:prstGeom>
          <a:solidFill>
            <a:srgbClr val="FFCC00"/>
          </a:solidFill>
          <a:ln>
            <a:solidFill>
              <a:srgbClr val="093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32918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93462"/>
                </a:solidFill>
                <a:latin typeface="Arial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60120"/>
            <a:ext cx="475488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3248" y="960120"/>
            <a:ext cx="489204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934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2344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Internship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Internship role: React Native Developer Intern (AI-Assisted Development).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Duration: 20th June 2026 to 2nd August 2026.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Organization: ToonsCode Software Training Institute.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Focus area: cross-platform mobile application development using React Native and AI-assisted coding practices.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"/>
            <a:ext cx="1417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93462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749808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93462"/>
                </a:solidFill>
                <a:latin typeface="Arial"/>
              </a:rPr>
              <a:t>PATNA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228600"/>
            <a:ext cx="329184" cy="475488"/>
          </a:xfrm>
          <a:prstGeom prst="rect">
            <a:avLst/>
          </a:prstGeom>
          <a:solidFill>
            <a:srgbClr val="FFCC00"/>
          </a:solidFill>
          <a:ln>
            <a:solidFill>
              <a:srgbClr val="093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32918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93462"/>
                </a:solidFill>
                <a:latin typeface="Arial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60120"/>
            <a:ext cx="475488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3248" y="960120"/>
            <a:ext cx="489204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934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2344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Organization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ToonsCode is a software training institute under Chapterfeed Learning Space Private Limited.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The internship emphasized practical mobile app development, reusable UI components, REST APIs, Firebase integration, debugging, and deployment workflows.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Mentorship was provided by experienced professionals during the training period.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"/>
            <a:ext cx="1417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93462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749808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93462"/>
                </a:solidFill>
                <a:latin typeface="Arial"/>
              </a:rPr>
              <a:t>PATNA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228600"/>
            <a:ext cx="329184" cy="475488"/>
          </a:xfrm>
          <a:prstGeom prst="rect">
            <a:avLst/>
          </a:prstGeom>
          <a:solidFill>
            <a:srgbClr val="FFCC00"/>
          </a:solidFill>
          <a:ln>
            <a:solidFill>
              <a:srgbClr val="093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32918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93462"/>
                </a:solidFill>
                <a:latin typeface="Arial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60120"/>
            <a:ext cx="475488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3248" y="960120"/>
            <a:ext cx="489204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934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2344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Offer Letter</a:t>
            </a:r>
          </a:p>
        </p:txBody>
      </p:sp>
      <p:pic>
        <p:nvPicPr>
          <p:cNvPr id="10" name="Picture 9" descr="Offer let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627632"/>
            <a:ext cx="66751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"/>
            <a:ext cx="1417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93462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749808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93462"/>
                </a:solidFill>
                <a:latin typeface="Arial"/>
              </a:rPr>
              <a:t>PATNA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228600"/>
            <a:ext cx="329184" cy="475488"/>
          </a:xfrm>
          <a:prstGeom prst="rect">
            <a:avLst/>
          </a:prstGeom>
          <a:solidFill>
            <a:srgbClr val="FFCC00"/>
          </a:solidFill>
          <a:ln>
            <a:solidFill>
              <a:srgbClr val="093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32918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93462"/>
                </a:solidFill>
                <a:latin typeface="Arial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60120"/>
            <a:ext cx="475488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3248" y="960120"/>
            <a:ext cx="489204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934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2344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Internship Certificate</a:t>
            </a:r>
          </a:p>
        </p:txBody>
      </p:sp>
      <p:pic>
        <p:nvPicPr>
          <p:cNvPr id="10" name="Picture 9" descr="Certific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91440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"/>
            <a:ext cx="1417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93462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749808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93462"/>
                </a:solidFill>
                <a:latin typeface="Arial"/>
              </a:rPr>
              <a:t>PATNA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228600"/>
            <a:ext cx="329184" cy="475488"/>
          </a:xfrm>
          <a:prstGeom prst="rect">
            <a:avLst/>
          </a:prstGeom>
          <a:solidFill>
            <a:srgbClr val="FFCC00"/>
          </a:solidFill>
          <a:ln>
            <a:solidFill>
              <a:srgbClr val="093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32918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93462"/>
                </a:solidFill>
                <a:latin typeface="Arial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60120"/>
            <a:ext cx="475488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3248" y="960120"/>
            <a:ext cx="489204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934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2344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Work 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Designed and improved mobile application screens using React Native and TypeScript.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Implemented and tested reusable components for authentication, product browsing, cart, checkout, and order tracking.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Integrated Firebase services for authentication, database storage, and app data management.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Used AI-assisted development tools to improve productivity and debugging 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"/>
            <a:ext cx="1417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93462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749808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93462"/>
                </a:solidFill>
                <a:latin typeface="Arial"/>
              </a:rPr>
              <a:t>PATNA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228600"/>
            <a:ext cx="329184" cy="475488"/>
          </a:xfrm>
          <a:prstGeom prst="rect">
            <a:avLst/>
          </a:prstGeom>
          <a:solidFill>
            <a:srgbClr val="FFCC00"/>
          </a:solidFill>
          <a:ln>
            <a:solidFill>
              <a:srgbClr val="093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32918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93462"/>
                </a:solidFill>
                <a:latin typeface="Arial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60120"/>
            <a:ext cx="475488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3248" y="960120"/>
            <a:ext cx="489204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934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2344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Learning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Improved understanding of Expo, React Native, JavaScript, TypeScript, and React concepts.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Learned Firebase Authentication, Firestore data modeling, Storage, and security-rule basics.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Gained exposure to REST APIs, mobile UI design, Git/version control, testing, and deployment practices.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Developed better problem-solving and project documentation skills.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"/>
            <a:ext cx="1417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93462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749808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93462"/>
                </a:solidFill>
                <a:latin typeface="Arial"/>
              </a:rPr>
              <a:t>PATNA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228600"/>
            <a:ext cx="329184" cy="475488"/>
          </a:xfrm>
          <a:prstGeom prst="rect">
            <a:avLst/>
          </a:prstGeom>
          <a:solidFill>
            <a:srgbClr val="FFCC00"/>
          </a:solidFill>
          <a:ln>
            <a:solidFill>
              <a:srgbClr val="093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32918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93462"/>
                </a:solidFill>
                <a:latin typeface="Arial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60120"/>
            <a:ext cx="475488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3248" y="960120"/>
            <a:ext cx="489204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934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2344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Project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Applied internship learning to the quickCart mobile application.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Built customer-facing workflows such as login, location selection, product listing, cart, checkout, and orders.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Created admin workflows for products, categories, cities, users, and order-status management.</a:t>
            </a:r>
          </a:p>
          <a:p>
            <a:pPr>
              <a:spcAft>
                <a:spcPts val="900"/>
              </a:spcAft>
              <a:defRPr sz="2000">
                <a:latin typeface="Arial"/>
              </a:defRPr>
            </a:pPr>
            <a:r>
              <a:t>Focused on practical quick-commerce use cases for groceries and daily essentials.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"/>
            <a:ext cx="1417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93462"/>
                </a:solidFill>
                <a:latin typeface="Arial"/>
              </a:rPr>
              <a:t>AMITY
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749808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093462"/>
                </a:solidFill>
                <a:latin typeface="Arial"/>
              </a:rPr>
              <a:t>PATNA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228600"/>
            <a:ext cx="329184" cy="475488"/>
          </a:xfrm>
          <a:prstGeom prst="rect">
            <a:avLst/>
          </a:prstGeom>
          <a:solidFill>
            <a:srgbClr val="FFCC00"/>
          </a:solidFill>
          <a:ln>
            <a:solidFill>
              <a:srgbClr val="093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32918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93462"/>
                </a:solidFill>
                <a:latin typeface="Arial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60120"/>
            <a:ext cx="4754880" cy="5486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3248" y="960120"/>
            <a:ext cx="4892040" cy="54864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0972800" cy="73152"/>
          </a:xfrm>
          <a:prstGeom prst="rect">
            <a:avLst/>
          </a:prstGeom>
          <a:solidFill>
            <a:srgbClr val="0934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2344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0">
                <a:solidFill>
                  <a:srgbClr val="000000"/>
                </a:solidFill>
                <a:latin typeface="Arial"/>
              </a:rPr>
              <a:t>The internship helped bridge academic knowledge and practical mobile app development.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15468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093462"/>
                </a:solidFill>
                <a:latin typeface="Arial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79476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0">
                <a:solidFill>
                  <a:srgbClr val="000000"/>
                </a:solidFill>
                <a:latin typeface="Arial"/>
              </a:rPr>
              <a:t>Ayush (A45304825002) - BCA</a:t>
            </a:r>
          </a:p>
        </p:txBody>
      </p:sp>
      <p:pic>
        <p:nvPicPr>
          <p:cNvPr id="13" name="Picture 12" descr="quickcar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343400"/>
            <a:ext cx="1371600" cy="7837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